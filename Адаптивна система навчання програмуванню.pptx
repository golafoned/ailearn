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06" autoAdjust="0"/>
  </p:normalViewPr>
  <p:slideViewPr>
    <p:cSldViewPr snapToGrid="0" snapToObjects="1">
      <p:cViewPr varScale="1">
        <p:scale>
          <a:sx n="68" d="100"/>
          <a:sy n="68" d="100"/>
        </p:scale>
        <p:origin x="12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8.png"/><Relationship Id="rId7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5.png"/><Relationship Id="rId18" Type="http://schemas.openxmlformats.org/officeDocument/2006/relationships/image" Target="../media/image42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44.png"/><Relationship Id="rId17" Type="http://schemas.openxmlformats.org/officeDocument/2006/relationships/image" Target="../media/image62.png"/><Relationship Id="rId2" Type="http://schemas.openxmlformats.org/officeDocument/2006/relationships/image" Target="../media/image50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0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85000"/>
              </a:srgbClr>
            </a:gs>
            <a:gs pos="100000">
              <a:srgbClr val="673AB7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933" y="671585"/>
            <a:ext cx="10131896" cy="68429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 dirty="0" err="1">
                <a:solidFill>
                  <a:srgbClr val="FFFFFF"/>
                </a:solidFill>
              </a:rPr>
              <a:t>Адаптивна</a:t>
            </a:r>
            <a:r>
              <a:rPr sz="3588" b="1" dirty="0">
                <a:solidFill>
                  <a:srgbClr val="FFFFFF"/>
                </a:solidFill>
              </a:rPr>
              <a:t> </a:t>
            </a:r>
            <a:r>
              <a:rPr sz="3588" b="1" dirty="0" err="1">
                <a:solidFill>
                  <a:srgbClr val="FFFFFF"/>
                </a:solidFill>
              </a:rPr>
              <a:t>система</a:t>
            </a:r>
            <a:r>
              <a:rPr sz="3588" b="1" dirty="0">
                <a:solidFill>
                  <a:srgbClr val="FFFFFF"/>
                </a:solidFill>
              </a:rPr>
              <a:t> </a:t>
            </a:r>
            <a:r>
              <a:rPr sz="3588" b="1" dirty="0" err="1">
                <a:solidFill>
                  <a:srgbClr val="FFFFFF"/>
                </a:solidFill>
              </a:rPr>
              <a:t>навчання</a:t>
            </a:r>
            <a:r>
              <a:rPr sz="3588" b="1" dirty="0">
                <a:solidFill>
                  <a:srgbClr val="FFFFFF"/>
                </a:solidFill>
              </a:rPr>
              <a:t> </a:t>
            </a:r>
            <a:r>
              <a:rPr sz="3588" b="1" dirty="0" err="1">
                <a:solidFill>
                  <a:srgbClr val="FFFFFF"/>
                </a:solidFill>
              </a:rPr>
              <a:t>програмуванню</a:t>
            </a:r>
            <a:endParaRPr sz="3588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824" y="6330722"/>
            <a:ext cx="258936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lang="uk-UA" sz="1600" b="0" dirty="0">
                <a:solidFill>
                  <a:srgbClr val="E1E1E1"/>
                </a:solidFill>
              </a:rPr>
              <a:t>Мельник Олександр ПП-41з</a:t>
            </a:r>
            <a:endParaRPr sz="1600" b="0" dirty="0">
              <a:solidFill>
                <a:srgbClr val="E1E1E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932488" y="1924049"/>
            <a:ext cx="2292889" cy="1601940"/>
          </a:xfrm>
          <a:prstGeom prst="roundRect">
            <a:avLst>
              <a:gd name="adj" fmla="val 1739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08496" y="2047634"/>
            <a:ext cx="1533486" cy="5109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400" dirty="0"/>
              <a:t>  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Адаптивне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навчання</a:t>
            </a:r>
            <a:r>
              <a:rPr sz="12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03079" y="2151229"/>
            <a:ext cx="391890" cy="303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3670" y="2600842"/>
            <a:ext cx="1533486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E1E1E1"/>
                </a:solidFill>
              </a:rPr>
              <a:t>Персоналізація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під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індивідуальний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темп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та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прогалини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знань</a:t>
            </a:r>
            <a:endParaRPr sz="1000" b="0" dirty="0">
              <a:solidFill>
                <a:srgbClr val="E1E1E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15872" y="1924048"/>
            <a:ext cx="2413168" cy="1676953"/>
          </a:xfrm>
          <a:prstGeom prst="roundRect">
            <a:avLst>
              <a:gd name="adj" fmla="val 1739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4630" y="2010031"/>
            <a:ext cx="1533486" cy="5109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400" dirty="0"/>
              <a:t>  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Відстеження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майстерності</a:t>
            </a:r>
            <a:r>
              <a:rPr sz="12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6367" y="2139440"/>
            <a:ext cx="399814" cy="2199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2583" y="2626857"/>
            <a:ext cx="1533486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E1E1E1"/>
                </a:solidFill>
              </a:rPr>
              <a:t>Оцінка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прогресу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по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кожному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концепту</a:t>
            </a:r>
            <a:r>
              <a:rPr sz="1000" b="0" dirty="0">
                <a:solidFill>
                  <a:srgbClr val="E1E1E1"/>
                </a:solidFill>
              </a:rPr>
              <a:t> (0-100%)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2488" y="3762597"/>
            <a:ext cx="2328741" cy="1971845"/>
          </a:xfrm>
          <a:prstGeom prst="roundRect">
            <a:avLst>
              <a:gd name="adj" fmla="val 1739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369041" y="3989128"/>
            <a:ext cx="1432753" cy="5109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400" dirty="0"/>
              <a:t>  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Інтервальне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повторення</a:t>
            </a:r>
            <a:r>
              <a:rPr sz="12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1960" y="4042038"/>
            <a:ext cx="391890" cy="3723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03079" y="4645929"/>
            <a:ext cx="1533486" cy="5724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E1E1E1"/>
                </a:solidFill>
              </a:rPr>
              <a:t>Spaced repetition </a:t>
            </a:r>
            <a:r>
              <a:rPr sz="1000" b="0" dirty="0" err="1">
                <a:solidFill>
                  <a:srgbClr val="E1E1E1"/>
                </a:solidFill>
              </a:rPr>
              <a:t>для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ефективного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запам'ятовування</a:t>
            </a:r>
            <a:endParaRPr sz="1000" b="0" dirty="0">
              <a:solidFill>
                <a:srgbClr val="E1E1E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15872" y="3762597"/>
            <a:ext cx="2413168" cy="1971845"/>
          </a:xfrm>
          <a:prstGeom prst="roundRect">
            <a:avLst>
              <a:gd name="adj" fmla="val 1739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7469" y="4077068"/>
            <a:ext cx="2213030" cy="3262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400" dirty="0"/>
              <a:t>  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Гейміфікація</a:t>
            </a:r>
            <a:r>
              <a:rPr sz="12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6009" y="4077068"/>
            <a:ext cx="342921" cy="2657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16010" y="4728766"/>
            <a:ext cx="2213030" cy="4185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E1E1E1"/>
                </a:solidFill>
              </a:rPr>
              <a:t>Досягнення</a:t>
            </a:r>
            <a:r>
              <a:rPr sz="1000" b="0" dirty="0">
                <a:solidFill>
                  <a:srgbClr val="E1E1E1"/>
                </a:solidFill>
              </a:rPr>
              <a:t>, </a:t>
            </a:r>
            <a:r>
              <a:rPr sz="1000" b="0" dirty="0" err="1">
                <a:solidFill>
                  <a:srgbClr val="E1E1E1"/>
                </a:solidFill>
              </a:rPr>
              <a:t>рівні</a:t>
            </a:r>
            <a:r>
              <a:rPr sz="1000" b="0" dirty="0">
                <a:solidFill>
                  <a:srgbClr val="E1E1E1"/>
                </a:solidFill>
              </a:rPr>
              <a:t>, </a:t>
            </a:r>
            <a:r>
              <a:rPr sz="1000" b="0" dirty="0" err="1">
                <a:solidFill>
                  <a:srgbClr val="E1E1E1"/>
                </a:solidFill>
              </a:rPr>
              <a:t>серії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для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підвищення</a:t>
            </a:r>
            <a:r>
              <a:rPr sz="1000" b="0" dirty="0">
                <a:solidFill>
                  <a:srgbClr val="E1E1E1"/>
                </a:solidFill>
              </a:rPr>
              <a:t> </a:t>
            </a:r>
            <a:r>
              <a:rPr sz="1000" b="0" dirty="0" err="1">
                <a:solidFill>
                  <a:srgbClr val="E1E1E1"/>
                </a:solidFill>
              </a:rPr>
              <a:t>мотивації</a:t>
            </a:r>
            <a:endParaRPr sz="1000" b="0" dirty="0">
              <a:solidFill>
                <a:srgbClr val="E1E1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3762280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Актуальність роботи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04925"/>
            <a:ext cx="5143371" cy="1314450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3" y="1533525"/>
            <a:ext cx="46861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Проблема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сучасних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платформ</a:t>
            </a:r>
            <a:r>
              <a:rPr sz="1315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5327" y="1558165"/>
            <a:ext cx="266693" cy="217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27" y="1914525"/>
            <a:ext cx="4686182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Однотипні тести без адаптації під індивідуальний темп та прогалини знань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809875"/>
            <a:ext cx="5143371" cy="1314450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4873" y="3052763"/>
            <a:ext cx="46861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Наслідки</a:t>
            </a:r>
            <a:r>
              <a:rPr sz="1315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3099352"/>
            <a:ext cx="266693" cy="1449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27" y="3419474"/>
            <a:ext cx="4686182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Втрата мотивації, перевантаження або надто повільний прогрес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324349"/>
            <a:ext cx="5143371" cy="1314450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8673" y="4543105"/>
            <a:ext cx="46861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Цільова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аудиторія</a:t>
            </a:r>
            <a:r>
              <a:rPr sz="1315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4613827"/>
            <a:ext cx="266693" cy="1449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5327" y="4933950"/>
            <a:ext cx="4686182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 err="1">
                <a:solidFill>
                  <a:srgbClr val="E1E1E1"/>
                </a:solidFill>
              </a:rPr>
              <a:t>Індивідуальне</a:t>
            </a:r>
            <a:r>
              <a:rPr sz="1076" b="0" dirty="0">
                <a:solidFill>
                  <a:srgbClr val="E1E1E1"/>
                </a:solidFill>
              </a:rPr>
              <a:t> </a:t>
            </a:r>
            <a:r>
              <a:rPr sz="1076" b="0" dirty="0" err="1">
                <a:solidFill>
                  <a:srgbClr val="E1E1E1"/>
                </a:solidFill>
              </a:rPr>
              <a:t>навчання</a:t>
            </a:r>
            <a:r>
              <a:rPr sz="1076" b="0" dirty="0">
                <a:solidFill>
                  <a:srgbClr val="E1E1E1"/>
                </a:solidFill>
              </a:rPr>
              <a:t>, </a:t>
            </a:r>
            <a:r>
              <a:rPr sz="1076" b="0" dirty="0" err="1">
                <a:solidFill>
                  <a:srgbClr val="E1E1E1"/>
                </a:solidFill>
              </a:rPr>
              <a:t>корпоративна</a:t>
            </a:r>
            <a:r>
              <a:rPr sz="1076" b="0" dirty="0">
                <a:solidFill>
                  <a:srgbClr val="E1E1E1"/>
                </a:solidFill>
              </a:rPr>
              <a:t> </a:t>
            </a:r>
            <a:r>
              <a:rPr sz="1076" b="0" dirty="0" err="1">
                <a:solidFill>
                  <a:srgbClr val="E1E1E1"/>
                </a:solidFill>
              </a:rPr>
              <a:t>підготовка</a:t>
            </a:r>
            <a:r>
              <a:rPr sz="1076" b="0" dirty="0">
                <a:solidFill>
                  <a:srgbClr val="E1E1E1"/>
                </a:solidFill>
              </a:rPr>
              <a:t>, </a:t>
            </a:r>
            <a:r>
              <a:rPr sz="1076" b="0" dirty="0" err="1">
                <a:solidFill>
                  <a:srgbClr val="E1E1E1"/>
                </a:solidFill>
              </a:rPr>
              <a:t>освітні</a:t>
            </a:r>
            <a:r>
              <a:rPr sz="1076" b="0" dirty="0">
                <a:solidFill>
                  <a:srgbClr val="E1E1E1"/>
                </a:solidFill>
              </a:rPr>
              <a:t> </a:t>
            </a:r>
            <a:r>
              <a:rPr sz="1076" b="0" dirty="0" err="1">
                <a:solidFill>
                  <a:srgbClr val="E1E1E1"/>
                </a:solidFill>
              </a:rPr>
              <a:t>платформи</a:t>
            </a:r>
            <a:endParaRPr sz="1076" b="0" dirty="0">
              <a:solidFill>
                <a:srgbClr val="E1E1E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43511" y="2362199"/>
            <a:ext cx="4810004" cy="3047999"/>
          </a:xfrm>
          <a:prstGeom prst="roundRect">
            <a:avLst>
              <a:gd name="adj" fmla="val 7500"/>
            </a:avLst>
          </a:prstGeom>
          <a:solidFill>
            <a:srgbClr val="B38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085552" y="3820158"/>
            <a:ext cx="3047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81650" y="2634762"/>
            <a:ext cx="1361206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lang="en-US" sz="1435" b="0" dirty="0">
                <a:solidFill>
                  <a:srgbClr val="FFFFFF"/>
                </a:solidFill>
              </a:rPr>
              <a:t> </a:t>
            </a:r>
            <a:r>
              <a:rPr lang="en-US" sz="1104" dirty="0"/>
              <a:t>  </a:t>
            </a:r>
            <a:r>
              <a:rPr lang="en-US" sz="1435" b="0" dirty="0">
                <a:solidFill>
                  <a:srgbClr val="FFFFFF"/>
                </a:solidFill>
              </a:rPr>
              <a:t> </a:t>
            </a:r>
            <a:r>
              <a:rPr lang="uk-UA" sz="1435" b="0" dirty="0">
                <a:solidFill>
                  <a:srgbClr val="FFFFFF"/>
                </a:solidFill>
              </a:rPr>
              <a:t>Моє</a:t>
            </a:r>
            <a:r>
              <a:rPr lang="en-US" sz="1435" b="0" dirty="0">
                <a:solidFill>
                  <a:srgbClr val="FFFFFF"/>
                </a:solidFill>
              </a:rPr>
              <a:t> </a:t>
            </a:r>
            <a:r>
              <a:rPr sz="1435" b="0" dirty="0" err="1">
                <a:solidFill>
                  <a:srgbClr val="FFFFFF"/>
                </a:solidFill>
              </a:rPr>
              <a:t>рішення</a:t>
            </a:r>
            <a:r>
              <a:rPr sz="1435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7353" y="2668360"/>
            <a:ext cx="285742" cy="24492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7353" y="3154679"/>
            <a:ext cx="228594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10244" y="3124200"/>
            <a:ext cx="339081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Генерація тестів</a:t>
            </a:r>
            <a:r>
              <a:rPr sz="1076" b="0">
                <a:solidFill>
                  <a:srgbClr val="E1E1E1"/>
                </a:solidFill>
              </a:rPr>
              <a:t> з різними типами питань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67353" y="356901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10244" y="3524250"/>
            <a:ext cx="385752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E1E1E1"/>
                </a:solidFill>
              </a:rPr>
              <a:t> </a:t>
            </a:r>
            <a:r>
              <a:rPr sz="1076" b="0" dirty="0" err="1">
                <a:solidFill>
                  <a:srgbClr val="FFFFFF"/>
                </a:solidFill>
              </a:rPr>
              <a:t>Адаптивне</a:t>
            </a: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0" dirty="0" err="1">
                <a:solidFill>
                  <a:srgbClr val="FFFFFF"/>
                </a:solidFill>
              </a:rPr>
              <a:t>відстеження</a:t>
            </a:r>
            <a:r>
              <a:rPr sz="1076" b="0" dirty="0">
                <a:solidFill>
                  <a:srgbClr val="E1E1E1"/>
                </a:solidFill>
              </a:rPr>
              <a:t> </a:t>
            </a:r>
            <a:r>
              <a:rPr sz="1076" b="0" dirty="0" err="1">
                <a:solidFill>
                  <a:srgbClr val="E1E1E1"/>
                </a:solidFill>
              </a:rPr>
              <a:t>майстерності</a:t>
            </a:r>
            <a:r>
              <a:rPr sz="1076" b="0" dirty="0">
                <a:solidFill>
                  <a:srgbClr val="E1E1E1"/>
                </a:solidFill>
              </a:rPr>
              <a:t> (0–100%)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7353" y="3949064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10244" y="3924299"/>
            <a:ext cx="34574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Інтервальне повторення</a:t>
            </a:r>
            <a:r>
              <a:rPr sz="1076" b="0">
                <a:solidFill>
                  <a:srgbClr val="E1E1E1"/>
                </a:solidFill>
              </a:rPr>
              <a:t> (spaced repetition)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67353" y="436054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10244" y="4324349"/>
            <a:ext cx="335271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Рекомендації</a:t>
            </a:r>
            <a:r>
              <a:rPr sz="1076" b="0">
                <a:solidFill>
                  <a:srgbClr val="E1E1E1"/>
                </a:solidFill>
              </a:rPr>
              <a:t> та персоналізовані добірки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67353" y="476916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10244" y="4724399"/>
            <a:ext cx="320984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Гейміфікація</a:t>
            </a:r>
            <a:r>
              <a:rPr sz="1076" b="0">
                <a:solidFill>
                  <a:srgbClr val="E1E1E1"/>
                </a:solidFill>
              </a:rPr>
              <a:t> для підвищення мотивації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295467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Мета роботи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304925"/>
            <a:ext cx="868658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1315" b="0">
                <a:solidFill>
                  <a:srgbClr val="E1E1E1"/>
                </a:solidFill>
              </a:rPr>
              <a:t>Створити повноцінний веб-застосунок для адаптивного навчання програмуванню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828800"/>
            <a:ext cx="3467013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62280" y="1981199"/>
            <a:ext cx="21906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332" y="2057400"/>
            <a:ext cx="393815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27" y="2552700"/>
            <a:ext cx="300982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FFFFFF"/>
                </a:solidFill>
              </a:rPr>
              <a:t>Генерація тестів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27" y="2905124"/>
            <a:ext cx="3009824" cy="790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Автоматична генерація тестів з </a:t>
            </a:r>
            <a:r>
              <a:rPr sz="1076" b="0">
                <a:solidFill>
                  <a:srgbClr val="FFFFFF"/>
                </a:solidFill>
              </a:rPr>
              <a:t>різними типами питань</a:t>
            </a:r>
            <a:r>
              <a:rPr sz="1076" b="0">
                <a:solidFill>
                  <a:srgbClr val="E1E1E1"/>
                </a:solidFill>
              </a:rPr>
              <a:t> для оцінки знань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340" y="1828800"/>
            <a:ext cx="3467013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7888" y="1981199"/>
            <a:ext cx="21906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5078" y="2057400"/>
            <a:ext cx="641538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0935" y="2552700"/>
            <a:ext cx="300982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FFFFFF"/>
                </a:solidFill>
              </a:rPr>
              <a:t>Відстеження майстерності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935" y="2905124"/>
            <a:ext cx="3009824" cy="790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Моніторинг рівня майстерності по кожному концепту (0–100%) та його динаміки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7948" y="1828800"/>
            <a:ext cx="3467013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3496" y="1981199"/>
            <a:ext cx="21906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7309" y="2057400"/>
            <a:ext cx="36829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6542" y="2552700"/>
            <a:ext cx="300982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FFFFFF"/>
                </a:solidFill>
              </a:rPr>
              <a:t>Інтервальне повторення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542" y="2905124"/>
            <a:ext cx="3009824" cy="790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Планування повторень за принципами </a:t>
            </a:r>
            <a:r>
              <a:rPr sz="1076" b="0">
                <a:solidFill>
                  <a:srgbClr val="FFFFFF"/>
                </a:solidFill>
              </a:rPr>
              <a:t>spaced repetition</a:t>
            </a:r>
            <a:r>
              <a:rPr sz="1076" b="0">
                <a:solidFill>
                  <a:srgbClr val="E1E1E1"/>
                </a:solidFill>
              </a:rPr>
              <a:t> для ефективного запам'ятовування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4152899"/>
            <a:ext cx="3467013" cy="2333624"/>
          </a:xfrm>
          <a:prstGeom prst="roundRect">
            <a:avLst>
              <a:gd name="adj" fmla="val 97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2280" y="4305300"/>
            <a:ext cx="21906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7304" y="4381499"/>
            <a:ext cx="405871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327" y="4876800"/>
            <a:ext cx="3009824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FFFFFF"/>
                </a:solidFill>
              </a:rPr>
              <a:t>Персоналізовані рекомендації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5467349"/>
            <a:ext cx="3009824" cy="790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Формування індивідуальних рекомендацій та добірок практики на основі прогресу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340" y="4152899"/>
            <a:ext cx="3467013" cy="2333624"/>
          </a:xfrm>
          <a:prstGeom prst="roundRect">
            <a:avLst>
              <a:gd name="adj" fmla="val 97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7888" y="4305300"/>
            <a:ext cx="21906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4873" y="4381499"/>
            <a:ext cx="441948" cy="342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90935" y="4876800"/>
            <a:ext cx="300982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FFFFFF"/>
                </a:solidFill>
              </a:rPr>
              <a:t>Гейміфікація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935" y="5219700"/>
            <a:ext cx="3009824" cy="10287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Мотивація користувача через досягнення, рівні, серії (streaks) та інші елементи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7948" y="4152899"/>
            <a:ext cx="3467013" cy="2333624"/>
          </a:xfrm>
          <a:prstGeom prst="roundRect">
            <a:avLst>
              <a:gd name="adj" fmla="val 97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3496" y="4305300"/>
            <a:ext cx="21906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60202" y="4381499"/>
            <a:ext cx="462504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86542" y="4876800"/>
            <a:ext cx="300982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315" b="0">
                <a:solidFill>
                  <a:srgbClr val="FFFFFF"/>
                </a:solidFill>
              </a:rPr>
              <a:t>Аналітика прогресу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542" y="5219700"/>
            <a:ext cx="3009824" cy="10287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Надання детальної аналітики прогресу та виявлення слабких місць у знаннях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DFC49-896C-DE6C-BE6B-8A00C456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26588EA-8AE5-431E-11CD-279CB401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3811"/>
            <a:ext cx="10945753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3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3762280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Архітектура системи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04925"/>
            <a:ext cx="3467013" cy="3267075"/>
          </a:xfrm>
          <a:prstGeom prst="roundRect">
            <a:avLst>
              <a:gd name="adj" fmla="val 699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5327" y="1556971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552574"/>
            <a:ext cx="7810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Бекенд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137410"/>
            <a:ext cx="228594" cy="125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19" y="2066924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Node.js + Express</a:t>
            </a:r>
            <a:r>
              <a:rPr sz="1076" b="0">
                <a:solidFill>
                  <a:srgbClr val="E1E1E1"/>
                </a:solidFill>
              </a:rPr>
              <a:t> — REST API, подійна модель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2606040"/>
            <a:ext cx="228594" cy="21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19" y="2581275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JWT + Refresh Tokens</a:t>
            </a:r>
            <a:r>
              <a:rPr sz="1076" b="0">
                <a:solidFill>
                  <a:srgbClr val="E1E1E1"/>
                </a:solidFill>
              </a:rPr>
              <a:t> — автентифікація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27" y="3120390"/>
            <a:ext cx="228594" cy="2171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3095625"/>
            <a:ext cx="192400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Zod</a:t>
            </a:r>
            <a:r>
              <a:rPr sz="1076" b="0">
                <a:solidFill>
                  <a:srgbClr val="E1E1E1"/>
                </a:solidFill>
              </a:rPr>
              <a:t> — валідація запитів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327" y="3496627"/>
            <a:ext cx="228594" cy="1885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8219" y="3457575"/>
            <a:ext cx="2666933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Модульна архітектура</a:t>
            </a:r>
            <a:r>
              <a:rPr sz="1076" b="0">
                <a:solidFill>
                  <a:srgbClr val="E1E1E1"/>
                </a:solidFill>
              </a:rPr>
              <a:t> — контролери → сервіси → репозиторії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340" y="1304925"/>
            <a:ext cx="3467013" cy="3267075"/>
          </a:xfrm>
          <a:prstGeom prst="roundRect">
            <a:avLst>
              <a:gd name="adj" fmla="val 699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0935" y="1577486"/>
            <a:ext cx="304792" cy="2168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48123" y="1552574"/>
            <a:ext cx="106677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Фронтенд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90935" y="2117407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33826" y="2066924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React 19 + Vite</a:t>
            </a:r>
            <a:r>
              <a:rPr sz="1076" b="0">
                <a:solidFill>
                  <a:srgbClr val="E1E1E1"/>
                </a:solidFill>
              </a:rPr>
              <a:t> — швидка збірка, сучасний рендеринг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90935" y="2626042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3826" y="2581275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LearningContext</a:t>
            </a:r>
            <a:r>
              <a:rPr sz="1076" b="0">
                <a:solidFill>
                  <a:srgbClr val="E1E1E1"/>
                </a:solidFill>
              </a:rPr>
              <a:t> — управління станом навчання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90935" y="3134677"/>
            <a:ext cx="228594" cy="1885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33826" y="3095625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Tailwind CSS</a:t>
            </a:r>
            <a:r>
              <a:rPr sz="1076" b="0">
                <a:solidFill>
                  <a:srgbClr val="E1E1E1"/>
                </a:solidFill>
              </a:rPr>
              <a:t> — уніфікований дизайн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90935" y="3649027"/>
            <a:ext cx="228594" cy="1885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33826" y="3609975"/>
            <a:ext cx="2666933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Компоненти UI</a:t>
            </a:r>
            <a:r>
              <a:rPr sz="1076" b="0">
                <a:solidFill>
                  <a:srgbClr val="E1E1E1"/>
                </a:solidFill>
              </a:rPr>
              <a:t> — MasteryProgressBar, ConceptCard, LevelBadge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7948" y="1304925"/>
            <a:ext cx="3467013" cy="3267075"/>
          </a:xfrm>
          <a:prstGeom prst="roundRect">
            <a:avLst>
              <a:gd name="adj" fmla="val 699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286542" y="1577486"/>
            <a:ext cx="304792" cy="2168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43731" y="1552574"/>
            <a:ext cx="12001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База даних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86542" y="2103639"/>
            <a:ext cx="1371565" cy="1932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72405" y="2066924"/>
            <a:ext cx="1523961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SQLite / SQL.js</a:t>
            </a:r>
            <a:r>
              <a:rPr sz="1076" b="0">
                <a:solidFill>
                  <a:srgbClr val="E1E1E1"/>
                </a:solidFill>
              </a:rPr>
              <a:t> — легка, вбудована БД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86542" y="2826067"/>
            <a:ext cx="228594" cy="1771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29434" y="2781300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Основні сутності</a:t>
            </a:r>
            <a:r>
              <a:rPr sz="1076" b="0">
                <a:solidFill>
                  <a:srgbClr val="E1E1E1"/>
                </a:solidFill>
              </a:rPr>
              <a:t> — користувачі, тести, питання, сесії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286542" y="3340417"/>
            <a:ext cx="228594" cy="1771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29434" y="3295650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Прогрес</a:t>
            </a:r>
            <a:r>
              <a:rPr sz="1076" b="0">
                <a:solidFill>
                  <a:srgbClr val="E1E1E1"/>
                </a:solidFill>
              </a:rPr>
              <a:t> — user_concepts, concept_practice_history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86542" y="3854767"/>
            <a:ext cx="228594" cy="1771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29434" y="3809999"/>
            <a:ext cx="266693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 </a:t>
            </a:r>
            <a:r>
              <a:rPr sz="1076" b="0">
                <a:solidFill>
                  <a:srgbClr val="FFFFFF"/>
                </a:solidFill>
              </a:rPr>
              <a:t>Гейміфікація</a:t>
            </a:r>
            <a:r>
              <a:rPr sz="1076" b="0">
                <a:solidFill>
                  <a:srgbClr val="E1E1E1"/>
                </a:solidFill>
              </a:rPr>
              <a:t> — achievements, user_achievements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33" y="4800600"/>
            <a:ext cx="10858228" cy="1676400"/>
          </a:xfrm>
          <a:prstGeom prst="roundRect">
            <a:avLst>
              <a:gd name="adj" fmla="val 13636"/>
            </a:avLst>
          </a:prstGeom>
          <a:solidFill>
            <a:srgbClr val="B388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5327" y="5029200"/>
            <a:ext cx="233356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0">
                <a:solidFill>
                  <a:srgbClr val="FFFFFF"/>
                </a:solidFill>
              </a:rPr>
              <a:t>Структурна архітектура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27" y="5457825"/>
            <a:ext cx="3124121" cy="790574"/>
          </a:xfrm>
          <a:prstGeom prst="roundRect">
            <a:avLst>
              <a:gd name="adj" fmla="val 1927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7723" y="5610224"/>
            <a:ext cx="28193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Контролери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23" y="5915025"/>
            <a:ext cx="2819329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E1E1"/>
                </a:solidFill>
              </a:rPr>
              <a:t>Прийом HTTP, параметри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33786" y="5457825"/>
            <a:ext cx="3124121" cy="790574"/>
          </a:xfrm>
          <a:prstGeom prst="roundRect">
            <a:avLst>
              <a:gd name="adj" fmla="val 1927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86182" y="5610224"/>
            <a:ext cx="28193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Сервіси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6182" y="5915025"/>
            <a:ext cx="2819329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E1E1"/>
                </a:solidFill>
              </a:rPr>
              <a:t>Бізнес-логіка, адаптація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2245" y="5457825"/>
            <a:ext cx="3124121" cy="790574"/>
          </a:xfrm>
          <a:prstGeom prst="roundRect">
            <a:avLst>
              <a:gd name="adj" fmla="val 1927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4641" y="5610224"/>
            <a:ext cx="28193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Репозиторії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4641" y="5915025"/>
            <a:ext cx="2819329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E1E1"/>
                </a:solidFill>
              </a:rPr>
              <a:t>Доступ до БД, ізоляція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048" y="0"/>
            <a:ext cx="2943151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 err="1">
                <a:solidFill>
                  <a:srgbClr val="FFFFFF"/>
                </a:solidFill>
              </a:rPr>
              <a:t>Ключові</a:t>
            </a:r>
            <a:r>
              <a:rPr sz="2392" b="1" dirty="0">
                <a:solidFill>
                  <a:srgbClr val="FFFFFF"/>
                </a:solidFill>
              </a:rPr>
              <a:t> </a:t>
            </a:r>
            <a:r>
              <a:rPr sz="2392" b="1" dirty="0" err="1">
                <a:solidFill>
                  <a:srgbClr val="FFFFFF"/>
                </a:solidFill>
              </a:rPr>
              <a:t>функції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93224" y="633565"/>
            <a:ext cx="352416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 dirty="0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47308" y="682950"/>
            <a:ext cx="599074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9467" y="991832"/>
            <a:ext cx="4714757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FFFFFF"/>
                </a:solidFill>
              </a:rPr>
              <a:t>Адаптивне навчання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467" y="1590117"/>
            <a:ext cx="4714757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E1E1E1"/>
                </a:solidFill>
              </a:rPr>
              <a:t>Персоналізація під індивідуальні потреби та прогалини знань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9467" y="2163954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Автоматична </a:t>
            </a:r>
            <a:r>
              <a:rPr sz="1196" b="0">
                <a:solidFill>
                  <a:srgbClr val="FFFFFF"/>
                </a:solidFill>
              </a:rPr>
              <a:t>генерація тестів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467" y="2343141"/>
            <a:ext cx="190495" cy="1708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9467" y="2525904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Підбір питань за </a:t>
            </a:r>
            <a:r>
              <a:rPr sz="1196" b="0">
                <a:solidFill>
                  <a:srgbClr val="FFFFFF"/>
                </a:solidFill>
              </a:rPr>
              <a:t>слабкими темами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467" y="2714896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9467" y="2887854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Адаптація </a:t>
            </a:r>
            <a:r>
              <a:rPr sz="1196" b="0">
                <a:solidFill>
                  <a:srgbClr val="FFFFFF"/>
                </a:solidFill>
              </a:rPr>
              <a:t>складності</a:t>
            </a:r>
            <a:r>
              <a:rPr sz="1196" b="0">
                <a:solidFill>
                  <a:srgbClr val="E1E1E1"/>
                </a:solidFill>
              </a:rPr>
              <a:t> під рівень користувача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9467" y="3071243"/>
            <a:ext cx="190495" cy="16248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75710" y="495872"/>
            <a:ext cx="5286242" cy="3180488"/>
          </a:xfrm>
          <a:prstGeom prst="roundRect">
            <a:avLst>
              <a:gd name="adj" fmla="val 84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90457" y="567135"/>
            <a:ext cx="352416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 dirty="0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4502" y="620357"/>
            <a:ext cx="868658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61452" y="991832"/>
            <a:ext cx="4714757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FFFFFF"/>
                </a:solidFill>
              </a:rPr>
              <a:t>Відстеження майстерності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452" y="1590117"/>
            <a:ext cx="4714757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E1E1E1"/>
                </a:solidFill>
              </a:rPr>
              <a:t>Детальний моніторинг прогресу по кожному концепту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1452" y="2163954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Оцінка прогресу за шкалою </a:t>
            </a:r>
            <a:r>
              <a:rPr sz="1196" b="0">
                <a:solidFill>
                  <a:srgbClr val="FFFFFF"/>
                </a:solidFill>
              </a:rPr>
              <a:t>0–100%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1452" y="2358549"/>
            <a:ext cx="190495" cy="1400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61452" y="2525904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Класифікація: </a:t>
            </a:r>
            <a:r>
              <a:rPr sz="1196" b="0">
                <a:solidFill>
                  <a:srgbClr val="FFFFFF"/>
                </a:solidFill>
              </a:rPr>
              <a:t>weak, learning, stable, mastered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1452" y="2709293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61452" y="2887854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Візуалізація</a:t>
            </a:r>
            <a:r>
              <a:rPr sz="1196" b="0">
                <a:solidFill>
                  <a:srgbClr val="E1E1E1"/>
                </a:solidFill>
              </a:rPr>
              <a:t> динаміки змін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1452" y="3079647"/>
            <a:ext cx="190495" cy="14567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203724" y="3962110"/>
            <a:ext cx="5286242" cy="2810454"/>
          </a:xfrm>
          <a:prstGeom prst="roundRect">
            <a:avLst>
              <a:gd name="adj" fmla="val 84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7055" y="3913915"/>
            <a:ext cx="352416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02153" y="4106124"/>
            <a:ext cx="489384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89467" y="4629916"/>
            <a:ext cx="4714757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FFFFFF"/>
                </a:solidFill>
              </a:rPr>
              <a:t>Інтервальне повторення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9467" y="5228201"/>
            <a:ext cx="4714757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E1E1E1"/>
                </a:solidFill>
              </a:rPr>
              <a:t>Ефективне закріплення знань на основі психологічних принципів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9467" y="5802038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Алгоритм </a:t>
            </a:r>
            <a:r>
              <a:rPr sz="1196" b="0">
                <a:solidFill>
                  <a:srgbClr val="FFFFFF"/>
                </a:solidFill>
              </a:rPr>
              <a:t>spaced repetition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89467" y="598542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89467" y="6163987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Автоматичне </a:t>
            </a:r>
            <a:r>
              <a:rPr sz="1196" b="0">
                <a:solidFill>
                  <a:srgbClr val="FFFFFF"/>
                </a:solidFill>
              </a:rPr>
              <a:t>планування повторень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89467" y="6345976"/>
            <a:ext cx="190495" cy="1652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89467" y="6525937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 dirty="0">
                <a:solidFill>
                  <a:srgbClr val="E1E1E1"/>
                </a:solidFill>
              </a:rPr>
              <a:t> </a:t>
            </a:r>
            <a:r>
              <a:rPr sz="1104" dirty="0"/>
              <a:t>  </a:t>
            </a:r>
            <a:r>
              <a:rPr sz="1196" b="0" dirty="0">
                <a:solidFill>
                  <a:srgbClr val="E1E1E1"/>
                </a:solidFill>
              </a:rPr>
              <a:t> </a:t>
            </a:r>
            <a:r>
              <a:rPr sz="1196" b="0" dirty="0" err="1">
                <a:solidFill>
                  <a:srgbClr val="E1E1E1"/>
                </a:solidFill>
              </a:rPr>
              <a:t>Адаптація</a:t>
            </a:r>
            <a:r>
              <a:rPr sz="1196" b="0" dirty="0">
                <a:solidFill>
                  <a:srgbClr val="E1E1E1"/>
                </a:solidFill>
              </a:rPr>
              <a:t> </a:t>
            </a:r>
            <a:r>
              <a:rPr sz="1196" b="0" dirty="0" err="1">
                <a:solidFill>
                  <a:srgbClr val="FFFFFF"/>
                </a:solidFill>
              </a:rPr>
              <a:t>інтервалів</a:t>
            </a:r>
            <a:r>
              <a:rPr sz="1196" b="0" dirty="0">
                <a:solidFill>
                  <a:srgbClr val="E1E1E1"/>
                </a:solidFill>
              </a:rPr>
              <a:t> </a:t>
            </a:r>
            <a:r>
              <a:rPr sz="1196" b="0" dirty="0" err="1">
                <a:solidFill>
                  <a:srgbClr val="E1E1E1"/>
                </a:solidFill>
              </a:rPr>
              <a:t>на</a:t>
            </a:r>
            <a:r>
              <a:rPr sz="1196" b="0" dirty="0">
                <a:solidFill>
                  <a:srgbClr val="E1E1E1"/>
                </a:solidFill>
              </a:rPr>
              <a:t> </a:t>
            </a:r>
            <a:r>
              <a:rPr sz="1196" b="0" dirty="0" err="1">
                <a:solidFill>
                  <a:srgbClr val="E1E1E1"/>
                </a:solidFill>
              </a:rPr>
              <a:t>основі</a:t>
            </a:r>
            <a:r>
              <a:rPr sz="1196" b="0" dirty="0">
                <a:solidFill>
                  <a:srgbClr val="E1E1E1"/>
                </a:solidFill>
              </a:rPr>
              <a:t> </a:t>
            </a:r>
            <a:r>
              <a:rPr sz="1196" b="0" dirty="0" err="1">
                <a:solidFill>
                  <a:srgbClr val="E1E1E1"/>
                </a:solidFill>
              </a:rPr>
              <a:t>результатів</a:t>
            </a:r>
            <a:r>
              <a:rPr sz="1196" b="0" dirty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89467" y="6714930"/>
            <a:ext cx="190495" cy="15127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775710" y="3962110"/>
            <a:ext cx="5286242" cy="2904099"/>
          </a:xfrm>
          <a:prstGeom prst="roundRect">
            <a:avLst>
              <a:gd name="adj" fmla="val 84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519041" y="3913915"/>
            <a:ext cx="352416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119294" y="4125556"/>
            <a:ext cx="599074" cy="4572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61452" y="4653968"/>
            <a:ext cx="4714757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FFFFFF"/>
                </a:solidFill>
              </a:rPr>
              <a:t>Гейміфікація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1452" y="5003049"/>
            <a:ext cx="4714757" cy="3243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E1E1E1"/>
                </a:solidFill>
              </a:rPr>
              <a:t>Підвищення мотивації через ігрові механіки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1452" y="5559390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Система </a:t>
            </a:r>
            <a:r>
              <a:rPr sz="1196" b="0">
                <a:solidFill>
                  <a:srgbClr val="FFFFFF"/>
                </a:solidFill>
              </a:rPr>
              <a:t>досягнень</a:t>
            </a:r>
            <a:r>
              <a:rPr sz="1196" b="0">
                <a:solidFill>
                  <a:srgbClr val="E1E1E1"/>
                </a:solidFill>
              </a:rPr>
              <a:t> та рівнів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061452" y="5742779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61452" y="5921339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Мотивація через </a:t>
            </a:r>
            <a:r>
              <a:rPr sz="1196" b="0">
                <a:solidFill>
                  <a:srgbClr val="FFFFFF"/>
                </a:solidFill>
              </a:rPr>
              <a:t>серії (streaks)</a:t>
            </a:r>
            <a:r>
              <a:rPr sz="1196" b="0">
                <a:solidFill>
                  <a:srgbClr val="E1E1E1"/>
                </a:solidFill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061452" y="6100527"/>
            <a:ext cx="190495" cy="1708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61452" y="6283290"/>
            <a:ext cx="4714757" cy="29482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E1E1E1"/>
                </a:solidFill>
              </a:rPr>
              <a:t> Нагороди за </a:t>
            </a:r>
            <a:r>
              <a:rPr sz="1196" b="0">
                <a:solidFill>
                  <a:srgbClr val="FFFFFF"/>
                </a:solidFill>
              </a:rPr>
              <a:t>швидкість</a:t>
            </a:r>
            <a:r>
              <a:rPr sz="1196" b="0">
                <a:solidFill>
                  <a:srgbClr val="E1E1E1"/>
                </a:solidFill>
              </a:rPr>
              <a:t> та досконалі відповіді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061452" y="6479285"/>
            <a:ext cx="190495" cy="13727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18013" y="447675"/>
            <a:ext cx="5286242" cy="3180488"/>
          </a:xfrm>
          <a:prstGeom prst="roundRect">
            <a:avLst>
              <a:gd name="adj" fmla="val 84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914477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Реалізація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04925"/>
            <a:ext cx="3428914" cy="3390899"/>
          </a:xfrm>
          <a:prstGeom prst="roundRect">
            <a:avLst>
              <a:gd name="adj" fmla="val 89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5327" y="1603863"/>
            <a:ext cx="304792" cy="164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552574"/>
            <a:ext cx="88580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Backend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109507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0119" y="2066924"/>
            <a:ext cx="256216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Node.js + Express</a:t>
            </a:r>
            <a:r>
              <a:rPr sz="1196" b="0">
                <a:solidFill>
                  <a:srgbClr val="E1E1E1"/>
                </a:solidFill>
              </a:rPr>
              <a:t> — REST API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4524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119" y="2409825"/>
            <a:ext cx="21335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Zod</a:t>
            </a:r>
            <a:r>
              <a:rPr sz="1196" b="0">
                <a:solidFill>
                  <a:srgbClr val="E1E1E1"/>
                </a:solidFill>
              </a:rPr>
              <a:t> — валідація запитів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7953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2752725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JWT + Refresh Tokens</a:t>
            </a:r>
            <a:r>
              <a:rPr sz="1196" b="0">
                <a:solidFill>
                  <a:srgbClr val="E1E1E1"/>
                </a:solidFill>
              </a:rPr>
              <a:t> — автентифікація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33668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0119" y="3324225"/>
            <a:ext cx="2666933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Модульна архітектура</a:t>
            </a:r>
            <a:r>
              <a:rPr sz="1196" b="0">
                <a:solidFill>
                  <a:srgbClr val="E1E1E1"/>
                </a:solidFill>
              </a:rPr>
              <a:t> — контролери → сервіси → репозиторії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390" y="1304925"/>
            <a:ext cx="3428914" cy="3390899"/>
          </a:xfrm>
          <a:prstGeom prst="roundRect">
            <a:avLst>
              <a:gd name="adj" fmla="val 89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984" y="1577486"/>
            <a:ext cx="304792" cy="2168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67173" y="1552574"/>
            <a:ext cx="9143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Frontend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84" y="210950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14777" y="2066924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React 19 + Vite</a:t>
            </a:r>
            <a:r>
              <a:rPr sz="1196" b="0">
                <a:solidFill>
                  <a:srgbClr val="E1E1E1"/>
                </a:solidFill>
              </a:rPr>
              <a:t> — швидка збірка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84" y="26810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14777" y="2638425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LearningContext</a:t>
            </a:r>
            <a:r>
              <a:rPr sz="1196" b="0">
                <a:solidFill>
                  <a:srgbClr val="E1E1E1"/>
                </a:solidFill>
              </a:rPr>
              <a:t> — управління станом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84" y="325250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14777" y="3209925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Tailwind CSS</a:t>
            </a:r>
            <a:r>
              <a:rPr sz="1196" b="0">
                <a:solidFill>
                  <a:srgbClr val="E1E1E1"/>
                </a:solidFill>
              </a:rPr>
              <a:t> — уніфікований дизайн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84" y="38240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14777" y="3781424"/>
            <a:ext cx="2666933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Компоненти UI</a:t>
            </a:r>
            <a:r>
              <a:rPr sz="1196" b="0">
                <a:solidFill>
                  <a:srgbClr val="E1E1E1"/>
                </a:solidFill>
              </a:rPr>
              <a:t> — MasteryProgressBar, ConceptCard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6047" y="1304925"/>
            <a:ext cx="3428914" cy="3390899"/>
          </a:xfrm>
          <a:prstGeom prst="roundRect">
            <a:avLst>
              <a:gd name="adj" fmla="val 89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4641" y="1577486"/>
            <a:ext cx="304792" cy="2168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81830" y="1552574"/>
            <a:ext cx="12001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База даних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4641" y="21095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29434" y="2066924"/>
            <a:ext cx="23335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SQLite / SQL.js</a:t>
            </a:r>
            <a:r>
              <a:rPr sz="1196" b="0">
                <a:solidFill>
                  <a:srgbClr val="E1E1E1"/>
                </a:solidFill>
              </a:rPr>
              <a:t> — легка БД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4641" y="245240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29434" y="2409825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Сутності</a:t>
            </a:r>
            <a:r>
              <a:rPr sz="1196" b="0">
                <a:solidFill>
                  <a:srgbClr val="E1E1E1"/>
                </a:solidFill>
              </a:rPr>
              <a:t> — користувачі, тести, питання, сесії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4641" y="30239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29434" y="2981325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Прогрес</a:t>
            </a:r>
            <a:r>
              <a:rPr sz="1196" b="0">
                <a:solidFill>
                  <a:srgbClr val="E1E1E1"/>
                </a:solidFill>
              </a:rPr>
              <a:t> — user_concepts, practice_history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4641" y="359540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29434" y="3552825"/>
            <a:ext cx="266693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Гейміфікація</a:t>
            </a:r>
            <a:r>
              <a:rPr sz="1196" b="0">
                <a:solidFill>
                  <a:srgbClr val="E1E1E1"/>
                </a:solidFill>
              </a:rPr>
              <a:t> — achievements, user_achievements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33" y="4981574"/>
            <a:ext cx="108582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435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0">
                <a:solidFill>
                  <a:srgbClr val="FFFFFF"/>
                </a:solidFill>
              </a:rPr>
              <a:t> Ключові підходи реалізації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5001867"/>
            <a:ext cx="266693" cy="226115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66733" y="5400675"/>
            <a:ext cx="3495587" cy="1085850"/>
          </a:xfrm>
          <a:prstGeom prst="roundRect">
            <a:avLst>
              <a:gd name="adj" fmla="val 21052"/>
            </a:avLst>
          </a:prstGeom>
          <a:solidFill>
            <a:srgbClr val="B388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7228" y="5591175"/>
            <a:ext cx="311459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</a:rPr>
              <a:t> Алгоритм адаптації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228" y="5616892"/>
            <a:ext cx="228594" cy="1771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7228" y="5895974"/>
            <a:ext cx="3114597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Врахування слабких тем, інтервалів повторення, складності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52816" y="5400675"/>
            <a:ext cx="3495587" cy="1085850"/>
          </a:xfrm>
          <a:prstGeom prst="roundRect">
            <a:avLst>
              <a:gd name="adj" fmla="val 21052"/>
            </a:avLst>
          </a:prstGeom>
          <a:solidFill>
            <a:srgbClr val="B388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43311" y="5591175"/>
            <a:ext cx="311459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</a:rPr>
              <a:t> Оновлення майстерності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43311" y="5642609"/>
            <a:ext cx="228594" cy="12572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543311" y="5895974"/>
            <a:ext cx="3114597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Динамічна зміна mastery (0–100%) після кожної відповіді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9374" y="5400675"/>
            <a:ext cx="3495587" cy="1085850"/>
          </a:xfrm>
          <a:prstGeom prst="roundRect">
            <a:avLst>
              <a:gd name="adj" fmla="val 21052"/>
            </a:avLst>
          </a:prstGeom>
          <a:solidFill>
            <a:srgbClr val="B388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9869" y="5591175"/>
            <a:ext cx="311459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</a:rPr>
              <a:t> Рекомендації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19869" y="5608320"/>
            <a:ext cx="228594" cy="19430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19869" y="5895974"/>
            <a:ext cx="3114597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E1E1"/>
                </a:solidFill>
              </a:rPr>
              <a:t>Формування пріоритетних концептів та наступних кроків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193" y="224826"/>
            <a:ext cx="2038299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 err="1">
                <a:solidFill>
                  <a:srgbClr val="FFFFFF"/>
                </a:solidFill>
              </a:rPr>
              <a:t>Результати</a:t>
            </a:r>
            <a:endParaRPr sz="2392" b="1" dirty="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14333" y="828674"/>
            <a:ext cx="6343491" cy="2705099"/>
          </a:xfrm>
          <a:prstGeom prst="roundRect">
            <a:avLst>
              <a:gd name="adj" fmla="val 1126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927" y="1080720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116" y="1076323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Основні досягнення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927" y="1638859"/>
            <a:ext cx="190495" cy="151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7719" y="1590673"/>
            <a:ext cx="5581510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Повноцінна архітектура</a:t>
            </a:r>
            <a:r>
              <a:rPr sz="1196" b="0">
                <a:solidFill>
                  <a:srgbClr val="E1E1E1"/>
                </a:solidFill>
              </a:rPr>
              <a:t> бекенду (контролери, сервіси, репозиторії)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927" y="2210359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19" y="2162174"/>
            <a:ext cx="5581510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Адаптивний алгоритм</a:t>
            </a:r>
            <a:r>
              <a:rPr sz="1196" b="0">
                <a:solidFill>
                  <a:srgbClr val="E1E1E1"/>
                </a:solidFill>
              </a:rPr>
              <a:t> навчання з відстеженням майстерності (0–100%)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927" y="2767851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719" y="2733674"/>
            <a:ext cx="54481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Інтервальне повторення</a:t>
            </a:r>
            <a:r>
              <a:rPr sz="1196" b="0">
                <a:solidFill>
                  <a:srgbClr val="E1E1E1"/>
                </a:solidFill>
              </a:rPr>
              <a:t> для ефективного запам'ятовування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2927" y="3119156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7719" y="3076574"/>
            <a:ext cx="512432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Система рекомендацій</a:t>
            </a:r>
            <a:r>
              <a:rPr sz="1196" b="0">
                <a:solidFill>
                  <a:srgbClr val="E1E1E1"/>
                </a:solidFill>
              </a:rPr>
              <a:t> для персоналізованого навчання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33" y="3724274"/>
            <a:ext cx="6343491" cy="1904999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927" y="3974854"/>
            <a:ext cx="304792" cy="2608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0116" y="3971924"/>
            <a:ext cx="21144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Технічна реалізація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2927" y="4520451"/>
            <a:ext cx="190495" cy="1792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7719" y="4486274"/>
            <a:ext cx="453378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REST API</a:t>
            </a:r>
            <a:r>
              <a:rPr sz="1196" b="0">
                <a:solidFill>
                  <a:srgbClr val="E1E1E1"/>
                </a:solidFill>
              </a:rPr>
              <a:t> з валідацією (Zod) та обробкою помилок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2927" y="4863351"/>
            <a:ext cx="190495" cy="1792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7719" y="4829174"/>
            <a:ext cx="30955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Автентифікація</a:t>
            </a:r>
            <a:r>
              <a:rPr sz="1196" b="0">
                <a:solidFill>
                  <a:srgbClr val="E1E1E1"/>
                </a:solidFill>
              </a:rPr>
              <a:t> з refresh токенами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2927" y="5220259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7719" y="5172074"/>
            <a:ext cx="38480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Frontend</a:t>
            </a:r>
            <a:r>
              <a:rPr sz="1196" b="0">
                <a:solidFill>
                  <a:srgbClr val="E1E1E1"/>
                </a:solidFill>
              </a:rPr>
              <a:t> з контекстом та UI-компонентами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3567" y="828674"/>
            <a:ext cx="4228994" cy="2305049"/>
          </a:xfrm>
          <a:prstGeom prst="roundRect">
            <a:avLst>
              <a:gd name="adj" fmla="val 1322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72161" y="1092443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29350" y="1076323"/>
            <a:ext cx="13906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Гейміфікація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72161" y="1633256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76954" y="1590673"/>
            <a:ext cx="178113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Досягнення</a:t>
            </a:r>
            <a:r>
              <a:rPr sz="1196" b="0">
                <a:solidFill>
                  <a:srgbClr val="E1E1E1"/>
                </a:solidFill>
              </a:rPr>
              <a:t> та рівні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72161" y="1971954"/>
            <a:ext cx="190495" cy="17088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76954" y="1933574"/>
            <a:ext cx="253358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Серії (streaks)</a:t>
            </a:r>
            <a:r>
              <a:rPr sz="1196" b="0">
                <a:solidFill>
                  <a:srgbClr val="E1E1E1"/>
                </a:solidFill>
              </a:rPr>
              <a:t> для мотивації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72161" y="2331662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76954" y="2276474"/>
            <a:ext cx="300982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Швидкість</a:t>
            </a:r>
            <a:r>
              <a:rPr sz="1196" b="0">
                <a:solidFill>
                  <a:srgbClr val="E1E1E1"/>
                </a:solidFill>
              </a:rPr>
              <a:t> та досконалі відповіді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43567" y="3324224"/>
            <a:ext cx="4228994" cy="2305049"/>
          </a:xfrm>
          <a:prstGeom prst="roundRect">
            <a:avLst>
              <a:gd name="adj" fmla="val 1322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372161" y="3592389"/>
            <a:ext cx="304792" cy="22566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350" y="3571873"/>
            <a:ext cx="108582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Аналітика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372161" y="4156821"/>
            <a:ext cx="190495" cy="10645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76954" y="4086224"/>
            <a:ext cx="27336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Прогрес</a:t>
            </a:r>
            <a:r>
              <a:rPr sz="1196" b="0">
                <a:solidFill>
                  <a:srgbClr val="E1E1E1"/>
                </a:solidFill>
              </a:rPr>
              <a:t> по кожному концепту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372161" y="4477309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76954" y="4429124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Слабкі місця</a:t>
            </a:r>
            <a:r>
              <a:rPr sz="1196" b="0">
                <a:solidFill>
                  <a:srgbClr val="E1E1E1"/>
                </a:solidFill>
              </a:rPr>
              <a:t> у знаннях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372161" y="4820209"/>
            <a:ext cx="190495" cy="1512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76954" y="4772024"/>
            <a:ext cx="279075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</a:t>
            </a:r>
            <a:r>
              <a:rPr sz="1196" b="0">
                <a:solidFill>
                  <a:srgbClr val="FFFFFF"/>
                </a:solidFill>
              </a:rPr>
              <a:t>Історія</a:t>
            </a:r>
            <a:r>
              <a:rPr sz="1196" b="0">
                <a:solidFill>
                  <a:srgbClr val="E1E1E1"/>
                </a:solidFill>
              </a:rPr>
              <a:t> практики та статистика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4333" y="5915024"/>
            <a:ext cx="10858228" cy="923924"/>
          </a:xfrm>
          <a:prstGeom prst="roundRect">
            <a:avLst>
              <a:gd name="adj" fmla="val 24742"/>
            </a:avLst>
          </a:prstGeom>
          <a:solidFill>
            <a:srgbClr val="B388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828" y="6105523"/>
            <a:ext cx="1123921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B388FF"/>
                </a:solidFill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71621" y="6257924"/>
            <a:ext cx="808652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 dirty="0" err="1">
                <a:solidFill>
                  <a:srgbClr val="FFFFFF"/>
                </a:solidFill>
              </a:rPr>
              <a:t>Всі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поставлені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завдання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реалізовані</a:t>
            </a:r>
            <a:r>
              <a:rPr sz="1315" b="0" dirty="0">
                <a:solidFill>
                  <a:srgbClr val="FFFFFF"/>
                </a:solidFill>
              </a:rPr>
              <a:t>: </a:t>
            </a:r>
            <a:r>
              <a:rPr sz="1315" b="0" dirty="0" err="1">
                <a:solidFill>
                  <a:srgbClr val="FFFFFF"/>
                </a:solidFill>
              </a:rPr>
              <a:t>система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готова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до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подальшого</a:t>
            </a:r>
            <a:r>
              <a:rPr sz="1315" b="0" dirty="0">
                <a:solidFill>
                  <a:srgbClr val="FFFFFF"/>
                </a:solidFill>
              </a:rPr>
              <a:t> </a:t>
            </a:r>
            <a:r>
              <a:rPr sz="1315" b="0" dirty="0" err="1">
                <a:solidFill>
                  <a:srgbClr val="FFFFFF"/>
                </a:solidFill>
              </a:rPr>
              <a:t>розширення</a:t>
            </a:r>
            <a:endParaRPr sz="1315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>
                <a:alpha val="95000"/>
              </a:srgbClr>
            </a:gs>
            <a:gs pos="100000">
              <a:srgbClr val="673AB7">
                <a:alpha val="9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924101" cy="4476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Подальші кроки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809626"/>
            <a:ext cx="3467013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90835" y="1000125"/>
            <a:ext cx="35241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39" y="1076326"/>
            <a:ext cx="447401" cy="380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26" y="1609725"/>
            <a:ext cx="293362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554" b="1">
                <a:solidFill>
                  <a:srgbClr val="FFFFFF"/>
                </a:solidFill>
              </a:rPr>
              <a:t>ML-прогноз забування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2028826"/>
            <a:ext cx="2933626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Впровадження </a:t>
            </a:r>
            <a:r>
              <a:rPr sz="1196" b="0">
                <a:solidFill>
                  <a:srgbClr val="FFFFFF"/>
                </a:solidFill>
              </a:rPr>
              <a:t>машинного навчання</a:t>
            </a:r>
            <a:r>
              <a:rPr sz="1196" b="0">
                <a:solidFill>
                  <a:srgbClr val="E1E1E1"/>
                </a:solidFill>
              </a:rPr>
              <a:t> для прогнозування індивідуального часу забування концептів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562351"/>
            <a:ext cx="3467013" cy="2295525"/>
          </a:xfrm>
          <a:prstGeom prst="roundRect">
            <a:avLst>
              <a:gd name="adj" fmla="val 1327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0835" y="3752851"/>
            <a:ext cx="35241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429" y="3829050"/>
            <a:ext cx="497620" cy="380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26" y="4362451"/>
            <a:ext cx="293362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554" b="1">
                <a:solidFill>
                  <a:srgbClr val="FFFFFF"/>
                </a:solidFill>
              </a:rPr>
              <a:t>Адаптивні пояснення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781551"/>
            <a:ext cx="2933626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Розробка </a:t>
            </a:r>
            <a:r>
              <a:rPr sz="1196" b="0">
                <a:solidFill>
                  <a:srgbClr val="FFFFFF"/>
                </a:solidFill>
              </a:rPr>
              <a:t>семантичних пояснень</a:t>
            </a:r>
            <a:r>
              <a:rPr sz="1196" b="0">
                <a:solidFill>
                  <a:srgbClr val="E1E1E1"/>
                </a:solidFill>
              </a:rPr>
              <a:t> до помилок на основі схожості та контексту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340" y="809626"/>
            <a:ext cx="3467013" cy="2571750"/>
          </a:xfrm>
          <a:prstGeom prst="roundRect">
            <a:avLst>
              <a:gd name="adj" fmla="val 1185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6442" y="1000125"/>
            <a:ext cx="35241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7268" y="1076326"/>
            <a:ext cx="717158" cy="380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29034" y="1609725"/>
            <a:ext cx="293362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554" b="1">
                <a:solidFill>
                  <a:srgbClr val="FFFFFF"/>
                </a:solidFill>
              </a:rPr>
              <a:t>Розширення активностей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034" y="2314576"/>
            <a:ext cx="2933626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Додавання </a:t>
            </a:r>
            <a:r>
              <a:rPr sz="1196" b="0">
                <a:solidFill>
                  <a:srgbClr val="FFFFFF"/>
                </a:solidFill>
              </a:rPr>
              <a:t>інтерактивних завдань</a:t>
            </a:r>
            <a:r>
              <a:rPr sz="1196" b="0">
                <a:solidFill>
                  <a:srgbClr val="E1E1E1"/>
                </a:solidFill>
              </a:rPr>
              <a:t>: coding tasks, картки, візуальні вправи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2340" y="3571875"/>
            <a:ext cx="3467013" cy="2286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6442" y="3762376"/>
            <a:ext cx="35241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7268" y="3838576"/>
            <a:ext cx="717158" cy="380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29034" y="4371975"/>
            <a:ext cx="293362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554" b="1">
                <a:solidFill>
                  <a:srgbClr val="FFFFFF"/>
                </a:solidFill>
              </a:rPr>
              <a:t>Соціальні функції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9034" y="4791076"/>
            <a:ext cx="2933626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Впровадження </a:t>
            </a:r>
            <a:r>
              <a:rPr sz="1196" b="0">
                <a:solidFill>
                  <a:srgbClr val="FFFFFF"/>
                </a:solidFill>
              </a:rPr>
              <a:t>групової аналітики</a:t>
            </a:r>
            <a:r>
              <a:rPr sz="1196" b="0">
                <a:solidFill>
                  <a:srgbClr val="E1E1E1"/>
                </a:solidFill>
              </a:rPr>
              <a:t> та порівняння прогресу з одногрупниками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7948" y="809626"/>
            <a:ext cx="3467013" cy="2428875"/>
          </a:xfrm>
          <a:prstGeom prst="roundRect">
            <a:avLst>
              <a:gd name="adj" fmla="val 1254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82050" y="1000125"/>
            <a:ext cx="35241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67754" y="1076326"/>
            <a:ext cx="447401" cy="3809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24641" y="1609725"/>
            <a:ext cx="293362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554" b="1">
                <a:solidFill>
                  <a:srgbClr val="FFFFFF"/>
                </a:solidFill>
              </a:rPr>
              <a:t>Інтеграції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4641" y="2028826"/>
            <a:ext cx="2933626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Підключення до </a:t>
            </a:r>
            <a:r>
              <a:rPr sz="1196" b="0">
                <a:solidFill>
                  <a:srgbClr val="FFFFFF"/>
                </a:solidFill>
              </a:rPr>
              <a:t>зовнішніх систем</a:t>
            </a:r>
            <a:r>
              <a:rPr sz="1196" b="0">
                <a:solidFill>
                  <a:srgbClr val="E1E1E1"/>
                </a:solidFill>
              </a:rPr>
              <a:t>: LMS, GitHub, системи управління проєктами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7948" y="3429000"/>
            <a:ext cx="3467013" cy="2428875"/>
          </a:xfrm>
          <a:prstGeom prst="roundRect">
            <a:avLst>
              <a:gd name="adj" fmla="val 1254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82050" y="3619501"/>
            <a:ext cx="35241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42645" y="3695700"/>
            <a:ext cx="497620" cy="380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24641" y="4229100"/>
            <a:ext cx="293362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10"/>
              </a:spcAft>
            </a:pPr>
            <a:r>
              <a:rPr sz="1554" b="1">
                <a:solidFill>
                  <a:srgbClr val="FFFFFF"/>
                </a:solidFill>
              </a:rPr>
              <a:t>Дорожня карта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4641" y="4648201"/>
            <a:ext cx="2933626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E1E1"/>
                </a:solidFill>
              </a:rPr>
              <a:t> Формування </a:t>
            </a:r>
            <a:r>
              <a:rPr sz="1196" b="0">
                <a:solidFill>
                  <a:srgbClr val="FFFFFF"/>
                </a:solidFill>
              </a:rPr>
              <a:t>індивідуальних навчальних шляхів</a:t>
            </a:r>
            <a:r>
              <a:rPr sz="1196" b="0">
                <a:solidFill>
                  <a:srgbClr val="E1E1E1"/>
                </a:solidFill>
              </a:rPr>
              <a:t> з урахуванням пререквізитів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5981699"/>
            <a:ext cx="10858228" cy="876302"/>
          </a:xfrm>
          <a:prstGeom prst="roundRect">
            <a:avLst>
              <a:gd name="adj" fmla="val 27118"/>
            </a:avLst>
          </a:prstGeom>
          <a:solidFill>
            <a:srgbClr val="B388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3426" y="6354176"/>
            <a:ext cx="457188" cy="3789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19209" y="6248399"/>
            <a:ext cx="9639059" cy="5905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Система готова до масштабування: створено міцний фундамент для подальшого розвитку та впровадження інноваційних функцій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782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Demian Dutka</cp:lastModifiedBy>
  <cp:revision>2</cp:revision>
  <dcterms:created xsi:type="dcterms:W3CDTF">2013-01-27T09:14:16Z</dcterms:created>
  <dcterms:modified xsi:type="dcterms:W3CDTF">2025-10-02T15:48:22Z</dcterms:modified>
  <cp:category/>
</cp:coreProperties>
</file>